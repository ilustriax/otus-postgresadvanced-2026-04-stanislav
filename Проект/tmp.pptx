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9" r:id="rId1"/>
    <p:sldMasterId id="2147483680" r:id="rId2"/>
    <p:sldMasterId id="2147483681" r:id="rId3"/>
  </p:sldMasterIdLst>
  <p:notesMasterIdLst>
    <p:notesMasterId r:id="rId24"/>
  </p:notesMasterIdLst>
  <p:sldIdLst>
    <p:sldId id="256" r:id="rId4"/>
    <p:sldId id="257" r:id="rId5"/>
    <p:sldId id="258" r:id="rId6"/>
    <p:sldId id="259" r:id="rId7"/>
    <p:sldId id="260" r:id="rId8"/>
    <p:sldId id="261" r:id="rId9"/>
    <p:sldId id="303" r:id="rId10"/>
    <p:sldId id="299" r:id="rId11"/>
    <p:sldId id="300" r:id="rId12"/>
    <p:sldId id="301" r:id="rId13"/>
    <p:sldId id="302" r:id="rId14"/>
    <p:sldId id="304" r:id="rId15"/>
    <p:sldId id="306" r:id="rId16"/>
    <p:sldId id="305" r:id="rId17"/>
    <p:sldId id="307" r:id="rId18"/>
    <p:sldId id="308" r:id="rId19"/>
    <p:sldId id="309" r:id="rId20"/>
    <p:sldId id="263" r:id="rId21"/>
    <p:sldId id="264" r:id="rId22"/>
    <p:sldId id="265" r:id="rId2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6096573-5101-4AC7-9647-23AC10259183}">
  <a:tblStyle styleId="{36096573-5101-4AC7-9647-23AC1025918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658" y="91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3ce85d903d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3ce85d903d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50155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3376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74288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17975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3ce85d903d_0_6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3ce85d903d_0_6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14953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3ce85d903d_0_7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3ce85d903d_0_7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5753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3ce85d903d_0_6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3ce85d903d_0_6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9754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3ce85d903d_0_5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3ce85d903d_0_5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83912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3ce85d903d_0_7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3ce85d903d_0_7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33027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3ce85d903d_0_7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3ce85d903d_0_7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37247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3ce85d903d_0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3ce85d903d_0_4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63016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100" r="10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7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{36096573-5101-4AC7-9647-23AC10259183}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lang="ru"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{36096573-5101-4AC7-9647-23AC10259183}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1"/>
          <p:cNvSpPr/>
          <p:nvPr/>
        </p:nvSpPr>
        <p:spPr>
          <a:xfrm>
            <a:off x="606200" y="1441163"/>
            <a:ext cx="7938600" cy="3564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31"/>
          <p:cNvSpPr txBox="1">
            <a:spLocks noGrp="1"/>
          </p:cNvSpPr>
          <p:nvPr>
            <p:ph type="subTitle" idx="1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 1">
  <p:cSld name="CUSTOM_4_2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0" name="Google Shape;140;p3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3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6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8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2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383964" y="1534950"/>
            <a:ext cx="75843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Zero-Downtime </a:t>
            </a:r>
            <a:r>
              <a:rPr lang="ru-RU" sz="40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обновление </a:t>
            </a:r>
            <a:r>
              <a:rPr lang="en-US" sz="40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MPP HA-</a:t>
            </a:r>
            <a:r>
              <a:rPr lang="ru-RU" sz="40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кластера </a:t>
            </a:r>
            <a:r>
              <a:rPr lang="en-US" sz="40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PostgreSQL</a:t>
            </a:r>
            <a:endParaRPr lang="ru-RU" sz="45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886050" y="4127375"/>
            <a:ext cx="24078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Название курса</a:t>
            </a:r>
            <a:endParaRPr sz="1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 dirty="0">
                <a:solidFill>
                  <a:schemeClr val="dk1"/>
                </a:solidFill>
              </a:rPr>
              <a:t>Меня хорошо видно</a:t>
            </a:r>
            <a:endParaRPr sz="4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dirty="0">
                <a:solidFill>
                  <a:schemeClr val="dk1"/>
                </a:solidFill>
              </a:rPr>
              <a:t>&amp; слышно?</a:t>
            </a:r>
            <a:endParaRPr sz="4000" dirty="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Защита проекта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Тема: </a:t>
            </a:r>
            <a:r>
              <a:rPr lang="en-US" sz="3000" dirty="0"/>
              <a:t>Zero-Downtime </a:t>
            </a:r>
            <a:r>
              <a:rPr lang="ru-RU" sz="3000" dirty="0"/>
              <a:t>обновление </a:t>
            </a:r>
            <a:r>
              <a:rPr lang="en-US" sz="3000" dirty="0"/>
              <a:t>MPP HA-</a:t>
            </a:r>
            <a:r>
              <a:rPr lang="ru-RU" sz="3000" dirty="0"/>
              <a:t>кластера </a:t>
            </a:r>
            <a:r>
              <a:rPr lang="en-US" sz="3000" dirty="0"/>
              <a:t>PostgreSQL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5" name="Google Shape;165;p37"/>
          <p:cNvSpPr txBox="1"/>
          <p:nvPr/>
        </p:nvSpPr>
        <p:spPr>
          <a:xfrm>
            <a:off x="3899475" y="2336401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Мина Станислав Александрович</a:t>
            </a:r>
            <a:endParaRPr sz="2300" b="1" dirty="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3899475" y="2991697"/>
            <a:ext cx="3193200" cy="1384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latin typeface="Roboto Medium"/>
                <a:ea typeface="Roboto Medium"/>
                <a:cs typeface="Roboto Medium"/>
                <a:sym typeface="Roboto Medium"/>
              </a:rPr>
              <a:t>Инженер-проектировщик «</a:t>
            </a:r>
            <a:r>
              <a:rPr lang="ru-RU" sz="1300" dirty="0" err="1">
                <a:latin typeface="Roboto Medium"/>
                <a:ea typeface="Roboto Medium"/>
                <a:cs typeface="Roboto Medium"/>
                <a:sym typeface="Roboto Medium"/>
              </a:rPr>
              <a:t>Газинформсервис</a:t>
            </a:r>
            <a:r>
              <a:rPr lang="ru-RU" sz="1300" dirty="0">
                <a:latin typeface="Roboto Medium"/>
                <a:ea typeface="Roboto Medium"/>
                <a:cs typeface="Roboto Medium"/>
                <a:sym typeface="Roboto Medium"/>
              </a:rPr>
              <a:t>»: проектирование и настройка встроенных возможностей ПО под требования регуляторов в сфере ИБ.</a:t>
            </a:r>
            <a:endParaRPr lang="ru-RU" sz="1300" dirty="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8A741FF-96A1-4A90-857B-A12BF6CFF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204" y="2034791"/>
            <a:ext cx="3017730" cy="25412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План защиты</a:t>
            </a:r>
            <a:endParaRPr dirty="0"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0" name="Google Shape;180;p38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lang="ru" sz="3000" b="1" dirty="0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lang="ru" sz="30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sz="3000"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>
            <p:extLst>
              <p:ext uri="{D42A27DB-BD31-4B8C-83A1-F6EECF244321}">
                <p14:modId xmlns:p14="http://schemas.microsoft.com/office/powerpoint/2010/main" val="4228070565"/>
              </p:ext>
            </p:extLst>
          </p:nvPr>
        </p:nvGraphicFramePr>
        <p:xfrm>
          <a:off x="952500" y="2382125"/>
          <a:ext cx="7239000" cy="3112239"/>
        </p:xfrm>
        <a:graphic>
          <a:graphicData uri="http://schemas.openxmlformats.org/drawingml/2006/table">
            <a:tbl>
              <a:tblPr>
                <a:noFill/>
                <a:tableStyleId>{36096573-5101-4AC7-9647-23AC10259183}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Развернуть инфраструктуру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PostgreSQL + </a:t>
                      </a:r>
                      <a:r>
                        <a:rPr lang="en-U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Citus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+ </a:t>
                      </a:r>
                      <a:r>
                        <a:rPr lang="en-U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Patroni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+ </a:t>
                      </a:r>
                      <a:r>
                        <a:rPr lang="en-U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etcd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+ </a:t>
                      </a:r>
                      <a:r>
                        <a:rPr lang="en-U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HAProxy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+ </a:t>
                      </a:r>
                      <a:r>
                        <a:rPr lang="en-U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PgBouncer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Настроить MPP-кластер и загрузить данные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Настроить симуляцию клиентской нагрузки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Выполнить обновление версии PostgreSQL без остановки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ru-RU" sz="14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Переключить клиента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1362273" y="1145409"/>
            <a:ext cx="6419453" cy="1066849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 </a:t>
            </a:r>
            <a:r>
              <a:rPr lang="ru-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Обеспечить возможность обновления версии PostgreSQL в MPP-кластере </a:t>
            </a:r>
            <a:r>
              <a:rPr lang="en-US" sz="1500" dirty="0" err="1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Citus</a:t>
            </a:r>
            <a:r>
              <a:rPr lang="ru-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 с минимальным временем простоя</a:t>
            </a:r>
            <a:endParaRPr lang="ru-RU" sz="15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Какие технологии использовались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D15D37C8-61C0-421E-8042-997334B31B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055536"/>
              </p:ext>
            </p:extLst>
          </p:nvPr>
        </p:nvGraphicFramePr>
        <p:xfrm>
          <a:off x="1292942" y="1122362"/>
          <a:ext cx="6169741" cy="3648375"/>
        </p:xfrm>
        <a:graphic>
          <a:graphicData uri="http://schemas.openxmlformats.org/drawingml/2006/table">
            <a:tbl>
              <a:tblPr>
                <a:noFill/>
                <a:tableStyleId>{36096573-5101-4AC7-9647-23AC10259183}</a:tableStyleId>
              </a:tblPr>
              <a:tblGrid>
                <a:gridCol w="2854099">
                  <a:extLst>
                    <a:ext uri="{9D8B030D-6E8A-4147-A177-3AD203B41FA5}">
                      <a16:colId xmlns:a16="http://schemas.microsoft.com/office/drawing/2014/main" val="1079179802"/>
                    </a:ext>
                  </a:extLst>
                </a:gridCol>
                <a:gridCol w="3315642">
                  <a:extLst>
                    <a:ext uri="{9D8B030D-6E8A-4147-A177-3AD203B41FA5}">
                      <a16:colId xmlns:a16="http://schemas.microsoft.com/office/drawing/2014/main" val="2013309155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Назначение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Инструмент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66485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3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Облачная платформа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Yandex Cloud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768318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Развёртывание инфраструктуры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Terraform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5979816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Установка и настройка ПО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Ansible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321498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СУБД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PostgreSQL +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Citus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3562725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Отказоустойчивость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Patroni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+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etcd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2427255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Балансировка и пул соединений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HAProxy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+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PgBouncer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323615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Симуляция клиента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pgbench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+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кастомный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скрипт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090132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2"/>
          <p:cNvSpPr txBox="1">
            <a:spLocks noGrp="1"/>
          </p:cNvSpPr>
          <p:nvPr>
            <p:ph type="title"/>
          </p:nvPr>
        </p:nvSpPr>
        <p:spPr>
          <a:xfrm>
            <a:off x="500550" y="28057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Версии </a:t>
            </a:r>
            <a:r>
              <a:rPr lang="en-US" dirty="0"/>
              <a:t>PostgreSQL </a:t>
            </a:r>
            <a:r>
              <a:rPr lang="ru-RU" dirty="0"/>
              <a:t>и </a:t>
            </a:r>
            <a:r>
              <a:rPr lang="en-US" dirty="0" err="1"/>
              <a:t>Citus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</a:pPr>
            <a:endParaRPr dirty="0"/>
          </a:p>
        </p:txBody>
      </p:sp>
      <p:sp>
        <p:nvSpPr>
          <p:cNvPr id="439" name="Google Shape;439;p62"/>
          <p:cNvSpPr/>
          <p:nvPr/>
        </p:nvSpPr>
        <p:spPr>
          <a:xfrm>
            <a:off x="4795100" y="1522725"/>
            <a:ext cx="3414600" cy="1358127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62"/>
          <p:cNvSpPr/>
          <p:nvPr/>
        </p:nvSpPr>
        <p:spPr>
          <a:xfrm>
            <a:off x="934300" y="1522725"/>
            <a:ext cx="3414600" cy="165801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p62"/>
          <p:cNvSpPr txBox="1"/>
          <p:nvPr/>
        </p:nvSpPr>
        <p:spPr>
          <a:xfrm>
            <a:off x="1040225" y="1993025"/>
            <a:ext cx="3153233" cy="1034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Была выбрана 14 версия </a:t>
            </a:r>
            <a:r>
              <a:rPr lang="en-US" sz="1200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Citus</a:t>
            </a:r>
            <a:r>
              <a:rPr lang="en-US" sz="12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ru-RU" sz="12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Выбор обоснован тем, что 14 версия поддерживает и 16 и 18 версии </a:t>
            </a:r>
            <a:r>
              <a:rPr lang="en-US" sz="12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PostgreSQL</a:t>
            </a:r>
            <a:endParaRPr sz="13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62"/>
          <p:cNvSpPr txBox="1"/>
          <p:nvPr/>
        </p:nvSpPr>
        <p:spPr>
          <a:xfrm>
            <a:off x="5005100" y="2000675"/>
            <a:ext cx="3204600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Обновление СУБД выполнялось с версии </a:t>
            </a:r>
            <a:r>
              <a:rPr lang="en-US" sz="12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PostgreSQL 16</a:t>
            </a:r>
            <a:r>
              <a:rPr lang="ru-RU" sz="12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на </a:t>
            </a:r>
            <a:r>
              <a:rPr lang="en-US" sz="12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PostgreSQL 18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62"/>
          <p:cNvSpPr txBox="1"/>
          <p:nvPr/>
        </p:nvSpPr>
        <p:spPr>
          <a:xfrm>
            <a:off x="1040225" y="1637850"/>
            <a:ext cx="1482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 err="1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Citus</a:t>
            </a:r>
            <a:endParaRPr sz="1700" b="1" dirty="0">
              <a:solidFill>
                <a:srgbClr val="9857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62"/>
          <p:cNvSpPr txBox="1"/>
          <p:nvPr/>
        </p:nvSpPr>
        <p:spPr>
          <a:xfrm>
            <a:off x="5005100" y="1637850"/>
            <a:ext cx="1482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2AB7E4"/>
                </a:solidFill>
                <a:latin typeface="Roboto"/>
                <a:ea typeface="Roboto"/>
                <a:cs typeface="Roboto"/>
                <a:sym typeface="Roboto"/>
              </a:rPr>
              <a:t>PostgreSQL</a:t>
            </a:r>
            <a:endParaRPr sz="1700" b="1" dirty="0">
              <a:solidFill>
                <a:srgbClr val="2AB7E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615273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466137" y="148827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Перечень серверов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D15D37C8-61C0-421E-8042-997334B31B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727737"/>
              </p:ext>
            </p:extLst>
          </p:nvPr>
        </p:nvGraphicFramePr>
        <p:xfrm>
          <a:off x="331838" y="827701"/>
          <a:ext cx="8480323" cy="4206399"/>
        </p:xfrm>
        <a:graphic>
          <a:graphicData uri="http://schemas.openxmlformats.org/drawingml/2006/table">
            <a:tbl>
              <a:tblPr>
                <a:noFill/>
                <a:tableStyleId>{36096573-5101-4AC7-9647-23AC10259183}</a:tableStyleId>
              </a:tblPr>
              <a:tblGrid>
                <a:gridCol w="1890760">
                  <a:extLst>
                    <a:ext uri="{9D8B030D-6E8A-4147-A177-3AD203B41FA5}">
                      <a16:colId xmlns:a16="http://schemas.microsoft.com/office/drawing/2014/main" val="1079179802"/>
                    </a:ext>
                  </a:extLst>
                </a:gridCol>
                <a:gridCol w="2196521">
                  <a:extLst>
                    <a:ext uri="{9D8B030D-6E8A-4147-A177-3AD203B41FA5}">
                      <a16:colId xmlns:a16="http://schemas.microsoft.com/office/drawing/2014/main" val="2013309155"/>
                    </a:ext>
                  </a:extLst>
                </a:gridCol>
                <a:gridCol w="2196521">
                  <a:extLst>
                    <a:ext uri="{9D8B030D-6E8A-4147-A177-3AD203B41FA5}">
                      <a16:colId xmlns:a16="http://schemas.microsoft.com/office/drawing/2014/main" val="2341225768"/>
                    </a:ext>
                  </a:extLst>
                </a:gridCol>
                <a:gridCol w="2196521">
                  <a:extLst>
                    <a:ext uri="{9D8B030D-6E8A-4147-A177-3AD203B41FA5}">
                      <a16:colId xmlns:a16="http://schemas.microsoft.com/office/drawing/2014/main" val="841206804"/>
                    </a:ext>
                  </a:extLst>
                </a:gridCol>
              </a:tblGrid>
              <a:tr h="39149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spc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Arial"/>
                          <a:sym typeface="Arial"/>
                        </a:rPr>
                        <a:t>Hostname</a:t>
                      </a:r>
                    </a:p>
                  </a:txBody>
                  <a:tcPr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spc="0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Arial"/>
                          <a:sym typeface="Arial"/>
                        </a:rPr>
                        <a:t>IP-</a:t>
                      </a:r>
                      <a:r>
                        <a:rPr lang="ru-RU" sz="1600" b="1" i="0" u="none" strike="noStrike" cap="none" spc="0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Arial"/>
                          <a:sym typeface="Arial"/>
                        </a:rPr>
                        <a:t>адрес</a:t>
                      </a:r>
                    </a:p>
                  </a:txBody>
                  <a:tcPr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600" b="1" i="0" u="none" strike="noStrike" cap="none" spc="0">
                          <a:solidFill>
                            <a:srgbClr val="3F299A"/>
                          </a:solidFill>
                          <a:latin typeface="Roboto"/>
                          <a:ea typeface="Roboto"/>
                          <a:sym typeface="Arial"/>
                        </a:rPr>
                        <a:t>Роль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600" b="1" i="0" u="none" strike="noStrike" cap="none" spc="0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sym typeface="Arial"/>
                        </a:rPr>
                        <a:t>Компоненты</a:t>
                      </a:r>
                    </a:p>
                  </a:txBody>
                  <a:tcPr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664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dcs1</a:t>
                      </a:r>
                    </a:p>
                  </a:txBody>
                  <a:tcPr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10.10.0.10</a:t>
                      </a:r>
                    </a:p>
                  </a:txBody>
                  <a:tcPr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DCS</a:t>
                      </a:r>
                    </a:p>
                  </a:txBody>
                  <a:tcPr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Etcd</a:t>
                      </a:r>
                    </a:p>
                  </a:txBody>
                  <a:tcPr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768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dcs2</a:t>
                      </a:r>
                    </a:p>
                  </a:txBody>
                  <a:tcPr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10.10.0.11</a:t>
                      </a:r>
                    </a:p>
                  </a:txBody>
                  <a:tcPr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DCS</a:t>
                      </a:r>
                    </a:p>
                  </a:txBody>
                  <a:tcPr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Etcd</a:t>
                      </a:r>
                      <a:endParaRPr lang="en-US" sz="1200" dirty="0"/>
                    </a:p>
                  </a:txBody>
                  <a:tcPr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5979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dcs3</a:t>
                      </a:r>
                    </a:p>
                  </a:txBody>
                  <a:tcPr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10.10.0.12</a:t>
                      </a:r>
                    </a:p>
                  </a:txBody>
                  <a:tcPr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DCS</a:t>
                      </a:r>
                    </a:p>
                  </a:txBody>
                  <a:tcPr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Etcd</a:t>
                      </a:r>
                    </a:p>
                  </a:txBody>
                  <a:tcPr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3214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coord1</a:t>
                      </a:r>
                    </a:p>
                  </a:txBody>
                  <a:tcPr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10.10.0.20</a:t>
                      </a:r>
                    </a:p>
                  </a:txBody>
                  <a:tcPr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Coord</a:t>
                      </a:r>
                    </a:p>
                  </a:txBody>
                  <a:tcPr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PostgreSQL, </a:t>
                      </a:r>
                      <a:r>
                        <a:rPr lang="en-US" sz="1200" dirty="0" err="1"/>
                        <a:t>Patroni</a:t>
                      </a:r>
                      <a:endParaRPr lang="en-US" sz="1200" dirty="0"/>
                    </a:p>
                  </a:txBody>
                  <a:tcPr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3562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coord2</a:t>
                      </a:r>
                    </a:p>
                  </a:txBody>
                  <a:tcPr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10.10.0.21</a:t>
                      </a:r>
                    </a:p>
                  </a:txBody>
                  <a:tcPr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Coord</a:t>
                      </a:r>
                    </a:p>
                  </a:txBody>
                  <a:tcPr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PostgreSQL, </a:t>
                      </a:r>
                      <a:r>
                        <a:rPr lang="en-US" sz="1200" dirty="0" err="1"/>
                        <a:t>Patroni</a:t>
                      </a:r>
                      <a:endParaRPr lang="en-US" sz="1200" dirty="0"/>
                    </a:p>
                  </a:txBody>
                  <a:tcPr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242725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200"/>
                        <a:t>worker11</a:t>
                      </a:r>
                    </a:p>
                  </a:txBody>
                  <a:tcPr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10.10.0.30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Worker1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PostgreSQL, </a:t>
                      </a:r>
                      <a:r>
                        <a:rPr lang="en-US" sz="1200" dirty="0" err="1"/>
                        <a:t>Patroni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323615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r>
                        <a:rPr lang="en-US" sz="1200"/>
                        <a:t>worker12</a:t>
                      </a:r>
                    </a:p>
                  </a:txBody>
                  <a:tcPr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10.10.0.31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Worker1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PostgreSQL, Patroni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090132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r>
                        <a:rPr lang="en-US" sz="1200"/>
                        <a:t>worker21</a:t>
                      </a:r>
                    </a:p>
                  </a:txBody>
                  <a:tcPr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10.10.0.40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Worker2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PostgreSQL, </a:t>
                      </a:r>
                      <a:r>
                        <a:rPr lang="en-US" sz="1200" dirty="0" err="1"/>
                        <a:t>Patroni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0827218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r>
                        <a:rPr lang="en-US" sz="1200"/>
                        <a:t>worker22</a:t>
                      </a:r>
                    </a:p>
                  </a:txBody>
                  <a:tcPr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10.10.0.41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Worker2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PostgreSQL, Patroni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593625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r>
                        <a:rPr lang="en-US" sz="1200"/>
                        <a:t>balancer</a:t>
                      </a:r>
                    </a:p>
                  </a:txBody>
                  <a:tcPr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10.10.0.50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Balancer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HAProxy, PgBouncer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39183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r>
                        <a:rPr lang="en-US" sz="1200"/>
                        <a:t>client</a:t>
                      </a:r>
                    </a:p>
                  </a:txBody>
                  <a:tcPr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10.10.0.70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client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ansible, terraform, </a:t>
                      </a:r>
                      <a:r>
                        <a:rPr lang="en-US" sz="1200" dirty="0" err="1"/>
                        <a:t>yc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pgbench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5936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5079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466137" y="148827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Информационный поток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A5FB4DC-DA61-4F29-B0E6-C67409B0E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3" y="1314795"/>
            <a:ext cx="8799871" cy="292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755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466137" y="148827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Взаимодействие </a:t>
            </a:r>
            <a:r>
              <a:rPr lang="en-US" sz="3000" dirty="0" err="1"/>
              <a:t>Patroni</a:t>
            </a:r>
            <a:r>
              <a:rPr lang="en-US" sz="3000" dirty="0"/>
              <a:t> </a:t>
            </a:r>
            <a:r>
              <a:rPr lang="ru-RU" sz="3000" dirty="0"/>
              <a:t>и </a:t>
            </a:r>
            <a:r>
              <a:rPr lang="en-US" sz="3000" dirty="0" err="1"/>
              <a:t>Etcd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6CEF984-4D44-4DA6-A4B3-CF52357B8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936" y="815583"/>
            <a:ext cx="7767484" cy="4077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296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Google Shape;53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9775" y="1462600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38" name="Google Shape;538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9775" y="2175797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39" name="Google Shape;539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9775" y="2852067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40" name="Google Shape;540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79775" y="3519916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542" name="Google Shape;542;p69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Настройка </a:t>
            </a:r>
            <a:r>
              <a:rPr lang="en-US" sz="3000" dirty="0"/>
              <a:t>MPP </a:t>
            </a:r>
            <a:r>
              <a:rPr lang="ru-RU" sz="3000" dirty="0"/>
              <a:t>кластера</a:t>
            </a:r>
            <a:endParaRPr dirty="0"/>
          </a:p>
        </p:txBody>
      </p:sp>
      <p:sp>
        <p:nvSpPr>
          <p:cNvPr id="543" name="Google Shape;543;p69"/>
          <p:cNvSpPr txBox="1"/>
          <p:nvPr/>
        </p:nvSpPr>
        <p:spPr>
          <a:xfrm>
            <a:off x="1508200" y="1552261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dirty="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p69"/>
          <p:cNvSpPr txBox="1"/>
          <p:nvPr/>
        </p:nvSpPr>
        <p:spPr>
          <a:xfrm>
            <a:off x="1508200" y="2265458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dirty="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69"/>
          <p:cNvSpPr txBox="1"/>
          <p:nvPr/>
        </p:nvSpPr>
        <p:spPr>
          <a:xfrm>
            <a:off x="1508200" y="2941728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6" name="Google Shape;546;p69"/>
          <p:cNvSpPr txBox="1"/>
          <p:nvPr/>
        </p:nvSpPr>
        <p:spPr>
          <a:xfrm>
            <a:off x="1508200" y="3609577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dirty="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48" name="Google Shape;548;p69"/>
          <p:cNvGraphicFramePr/>
          <p:nvPr>
            <p:extLst>
              <p:ext uri="{D42A27DB-BD31-4B8C-83A1-F6EECF244321}">
                <p14:modId xmlns:p14="http://schemas.microsoft.com/office/powerpoint/2010/main" val="3749108873"/>
              </p:ext>
            </p:extLst>
          </p:nvPr>
        </p:nvGraphicFramePr>
        <p:xfrm>
          <a:off x="2781050" y="1435100"/>
          <a:ext cx="5494225" cy="3455823"/>
        </p:xfrm>
        <a:graphic>
          <a:graphicData uri="http://schemas.openxmlformats.org/drawingml/2006/table">
            <a:tbl>
              <a:tblPr>
                <a:noFill/>
                <a:tableStyleId>{36096573-5101-4AC7-9647-23AC10259183}</a:tableStyleId>
              </a:tblPr>
              <a:tblGrid>
                <a:gridCol w="549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-RU" sz="1000" b="1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Установка </a:t>
                      </a:r>
                      <a:r>
                        <a:rPr lang="ru-RU" sz="1000" b="1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Citus</a:t>
                      </a:r>
                      <a:r>
                        <a:rPr lang="ru-RU" sz="10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 На все узлы кластера добавлен репозиторий </a:t>
                      </a:r>
                      <a:r>
                        <a:rPr lang="ru-RU" sz="10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Citus</a:t>
                      </a:r>
                      <a:r>
                        <a:rPr lang="ru-RU" sz="10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и установлен пакет postgresql-16-citus-14.2.</a:t>
                      </a:r>
                      <a:endParaRPr sz="15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endParaRPr lang="en-US" sz="10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-RU" sz="1000" b="1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Инициализация расширения</a:t>
                      </a:r>
                      <a:endParaRPr lang="ru-RU" sz="10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endParaRPr lang="ru-RU" sz="1000" b="1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-RU" sz="1000" b="1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Инициализация координатора и регистрация</a:t>
                      </a: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000" b="1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воркер</a:t>
                      </a:r>
                      <a:r>
                        <a:rPr lang="ru-RU" sz="1000" b="1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-узлов</a:t>
                      </a:r>
                      <a:r>
                        <a:rPr lang="ru-RU" sz="10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 Связь между узлами — через </a:t>
                      </a:r>
                      <a:r>
                        <a:rPr lang="ru-RU" sz="10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HAProxy</a:t>
                      </a:r>
                      <a:r>
                        <a:rPr lang="ru-RU" sz="10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 при </a:t>
                      </a:r>
                      <a:r>
                        <a:rPr lang="ru-RU" sz="10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failover</a:t>
                      </a:r>
                      <a:r>
                        <a:rPr lang="ru-RU" sz="10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адреса узлов менять не нужно</a:t>
                      </a:r>
                      <a:endParaRPr sz="15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endParaRPr lang="ru-RU" sz="1000" b="1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-RU" sz="1000" b="1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Создание и распределение таблиц. </a:t>
                      </a:r>
                      <a:r>
                        <a:rPr lang="ru-RU" sz="1000" b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 распределённые таблицы — </a:t>
                      </a:r>
                      <a:r>
                        <a:rPr lang="ru-RU" sz="1000" b="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companies</a:t>
                      </a:r>
                      <a:r>
                        <a:rPr lang="ru-RU" sz="1000" b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ru-RU" sz="1000" b="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campaigns</a:t>
                      </a:r>
                      <a:r>
                        <a:rPr lang="ru-RU" sz="1000" b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ru-RU" sz="1000" b="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ads</a:t>
                      </a:r>
                      <a:r>
                        <a:rPr lang="ru-RU" sz="1000" b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 Загружено ~100 компаний, ~1 000 кампаний и ~10 000 объявлений, общий объём — несколько МБ.</a:t>
                      </a:r>
                      <a:endParaRPr sz="1500" b="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endParaRPr sz="15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6E8F4C16-EA72-4B28-9852-E15328995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3 распределённые таблицы — 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companies</a:t>
            </a:r>
            <a: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, 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campaigns</a:t>
            </a:r>
            <a: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, 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ads</a:t>
            </a:r>
            <a: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. Загружено ~100 компаний, ~1 000 кампаний и ~10 000 объявлений, общий объём — несколько МБ.</a:t>
            </a:r>
            <a:r>
              <a:rPr kumimoji="0" lang="ru-RU" altLang="ru-RU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C2B5A0-4117-47AD-B656-67831ED2A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3 распределённые таблицы — 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companies</a:t>
            </a:r>
            <a: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, 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campaigns</a:t>
            </a:r>
            <a: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, 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ads</a:t>
            </a:r>
            <a: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. Загружено ~100 компаний, ~1 000 кампаний и ~10 000 объявлений, общий объём — несколько МБ.</a:t>
            </a:r>
            <a:r>
              <a:rPr kumimoji="0" lang="ru-RU" altLang="ru-RU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784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7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Симуляция клиентской нагрузки</a:t>
            </a:r>
            <a:endParaRPr dirty="0"/>
          </a:p>
        </p:txBody>
      </p:sp>
      <p:sp>
        <p:nvSpPr>
          <p:cNvPr id="596" name="Google Shape;596;p74"/>
          <p:cNvSpPr txBox="1">
            <a:spLocks noGrp="1"/>
          </p:cNvSpPr>
          <p:nvPr>
            <p:ph type="subTitle" idx="2"/>
          </p:nvPr>
        </p:nvSpPr>
        <p:spPr>
          <a:xfrm>
            <a:off x="677150" y="1783982"/>
            <a:ext cx="7568100" cy="2099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b="1" dirty="0" err="1"/>
              <a:t>pgbench</a:t>
            </a:r>
            <a:r>
              <a:rPr lang="en-US" b="1" dirty="0"/>
              <a:t> -f /</a:t>
            </a:r>
            <a:r>
              <a:rPr lang="en-US" b="1" dirty="0" err="1"/>
              <a:t>tmp</a:t>
            </a:r>
            <a:r>
              <a:rPr lang="en-US" b="1" dirty="0"/>
              <a:t>/</a:t>
            </a:r>
            <a:r>
              <a:rPr lang="en-US" b="1" dirty="0" err="1"/>
              <a:t>insert.sql</a:t>
            </a:r>
            <a:r>
              <a:rPr lang="en-US" b="1" dirty="0"/>
              <a:t> -c 10 -j 2 -T 600 -P 5 -n -h balancer -p 6432</a:t>
            </a:r>
            <a:r>
              <a:rPr lang="ru-RU" b="1" dirty="0"/>
              <a:t> </a:t>
            </a:r>
            <a:r>
              <a:rPr lang="en-US" b="1" dirty="0"/>
              <a:t>-U </a:t>
            </a:r>
            <a:r>
              <a:rPr lang="en-US" b="1" dirty="0" err="1"/>
              <a:t>postgres</a:t>
            </a:r>
            <a:r>
              <a:rPr lang="en-US" b="1" dirty="0"/>
              <a:t> coord-16</a:t>
            </a:r>
            <a:endParaRPr lang="ru-RU" b="1" dirty="0"/>
          </a:p>
          <a:p>
            <a:endParaRPr lang="ru-RU" dirty="0"/>
          </a:p>
          <a:p>
            <a:r>
              <a:rPr lang="en-US" sz="1400" dirty="0"/>
              <a:t>\set id random(1, 99999999)</a:t>
            </a:r>
          </a:p>
          <a:p>
            <a:r>
              <a:rPr lang="en-US" sz="1400" dirty="0"/>
              <a:t>INSERT INTO companies (id, name, </a:t>
            </a:r>
            <a:r>
              <a:rPr lang="en-US" sz="1400" dirty="0" err="1"/>
              <a:t>created</a:t>
            </a:r>
            <a:r>
              <a:rPr lang="en-US" sz="1400" i="1" dirty="0" err="1"/>
              <a:t>at</a:t>
            </a:r>
            <a:r>
              <a:rPr lang="en-US" sz="1400" i="1" dirty="0"/>
              <a:t>, </a:t>
            </a:r>
            <a:r>
              <a:rPr lang="en-US" sz="1400" i="1" dirty="0" err="1"/>
              <a:t>updated_at</a:t>
            </a:r>
            <a:r>
              <a:rPr lang="en-US" sz="1400" i="1" dirty="0"/>
              <a:t>)</a:t>
            </a:r>
            <a:br>
              <a:rPr lang="en-US" sz="1400" i="1" dirty="0"/>
            </a:br>
            <a:r>
              <a:rPr lang="en-US" sz="1400" i="1" dirty="0"/>
              <a:t>VALUES (:</a:t>
            </a:r>
            <a:r>
              <a:rPr lang="en-US" sz="1400" i="1" dirty="0" err="1"/>
              <a:t>client_id</a:t>
            </a:r>
            <a:r>
              <a:rPr lang="en-US" sz="1400" i="1" dirty="0"/>
              <a:t> * 100000000000 + :id,</a:t>
            </a:r>
            <a:br>
              <a:rPr lang="en-US" sz="1400" i="1" dirty="0"/>
            </a:br>
            <a:r>
              <a:rPr lang="en-US" sz="1400" i="1" dirty="0"/>
              <a:t>'Company</a:t>
            </a:r>
            <a:r>
              <a:rPr lang="en-US" sz="1400" dirty="0"/>
              <a:t>' || :id,</a:t>
            </a:r>
            <a:br>
              <a:rPr lang="en-US" sz="1400" dirty="0"/>
            </a:br>
            <a:r>
              <a:rPr lang="en-US" sz="1400" dirty="0"/>
              <a:t>now(), now());</a:t>
            </a:r>
          </a:p>
        </p:txBody>
      </p:sp>
      <p:sp>
        <p:nvSpPr>
          <p:cNvPr id="597" name="Google Shape;597;p74"/>
          <p:cNvSpPr txBox="1">
            <a:spLocks noGrp="1"/>
          </p:cNvSpPr>
          <p:nvPr>
            <p:ph type="subTitle" idx="1"/>
          </p:nvPr>
        </p:nvSpPr>
        <p:spPr>
          <a:xfrm>
            <a:off x="530000" y="1152250"/>
            <a:ext cx="7862400" cy="8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33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</a:pPr>
            <a:r>
              <a:rPr lang="ru-RU" sz="1500" dirty="0"/>
              <a:t>Клиентская нагрузка имитировалась </a:t>
            </a:r>
            <a:r>
              <a:rPr lang="ru-RU" sz="1500" dirty="0" err="1"/>
              <a:t>pgbench</a:t>
            </a:r>
            <a:r>
              <a:rPr lang="ru-RU" sz="1500" dirty="0"/>
              <a:t> с </a:t>
            </a:r>
            <a:r>
              <a:rPr lang="ru-RU" sz="1500" dirty="0" err="1"/>
              <a:t>кастомным</a:t>
            </a:r>
            <a:r>
              <a:rPr lang="ru-RU" sz="1500" dirty="0"/>
              <a:t> скриптом — непрерывная запись данных через координатор на протяжении всего обновления.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B045105-9CFA-4E6D-92C4-C1E6F25A8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50" y="3991250"/>
            <a:ext cx="7862400" cy="86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156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626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22" name="Google Shape;522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6014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23" name="Google Shape;523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6940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24" name="Google Shape;524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47926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25" name="Google Shape;525;p6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28892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526" name="Google Shape;526;p68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Обновление кластера</a:t>
            </a:r>
            <a:endParaRPr dirty="0"/>
          </a:p>
        </p:txBody>
      </p:sp>
      <p:sp>
        <p:nvSpPr>
          <p:cNvPr id="527" name="Google Shape;527;p68"/>
          <p:cNvSpPr txBox="1"/>
          <p:nvPr/>
        </p:nvSpPr>
        <p:spPr>
          <a:xfrm>
            <a:off x="786781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68"/>
          <p:cNvSpPr txBox="1"/>
          <p:nvPr/>
        </p:nvSpPr>
        <p:spPr>
          <a:xfrm>
            <a:off x="2436168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Google Shape;529;p68"/>
          <p:cNvSpPr txBox="1"/>
          <p:nvPr/>
        </p:nvSpPr>
        <p:spPr>
          <a:xfrm>
            <a:off x="4057095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68"/>
          <p:cNvSpPr txBox="1"/>
          <p:nvPr/>
        </p:nvSpPr>
        <p:spPr>
          <a:xfrm>
            <a:off x="5738081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Google Shape;531;p68"/>
          <p:cNvSpPr txBox="1"/>
          <p:nvPr/>
        </p:nvSpPr>
        <p:spPr>
          <a:xfrm>
            <a:off x="7419047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32" name="Google Shape;532;p68"/>
          <p:cNvGraphicFramePr/>
          <p:nvPr>
            <p:extLst>
              <p:ext uri="{D42A27DB-BD31-4B8C-83A1-F6EECF244321}">
                <p14:modId xmlns:p14="http://schemas.microsoft.com/office/powerpoint/2010/main" val="851891271"/>
              </p:ext>
            </p:extLst>
          </p:nvPr>
        </p:nvGraphicFramePr>
        <p:xfrm>
          <a:off x="496600" y="3116575"/>
          <a:ext cx="8275500" cy="1907066"/>
        </p:xfrm>
        <a:graphic>
          <a:graphicData uri="http://schemas.openxmlformats.org/drawingml/2006/table">
            <a:tbl>
              <a:tblPr>
                <a:noFill/>
                <a:tableStyleId>{36096573-5101-4AC7-9647-23AC10259183}</a:tableStyleId>
              </a:tblPr>
              <a:tblGrid>
                <a:gridCol w="165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5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5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Вывод реплики из кластера </a:t>
                      </a:r>
                      <a:r>
                        <a:rPr lang="en-US" sz="12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Patroni</a:t>
                      </a:r>
                      <a:r>
                        <a:rPr lang="en-US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lang="ru-RU" sz="12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200" b="0" i="0" u="none" strike="noStrike" cap="none" spc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sym typeface="Roboto"/>
                        </a:rPr>
                        <a:t>Обновление СУБД </a:t>
                      </a:r>
                      <a:r>
                        <a:rPr lang="en-US" sz="1200" b="0" i="0" u="none" strike="noStrike" cap="none" spc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sym typeface="Roboto"/>
                        </a:rPr>
                        <a:t>PostgreSQL </a:t>
                      </a:r>
                      <a:r>
                        <a:rPr lang="ru-RU" sz="1200" b="0" i="0" u="none" strike="noStrike" cap="none" spc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sym typeface="Roboto"/>
                        </a:rPr>
                        <a:t>до 18 версии через </a:t>
                      </a:r>
                      <a:r>
                        <a:rPr lang="en-US" sz="1200" b="0" i="0" u="none" strike="noStrike" cap="none" spc="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sym typeface="Roboto"/>
                        </a:rPr>
                        <a:t>pg_upgrade</a:t>
                      </a:r>
                      <a:r>
                        <a:rPr lang="en-US" sz="1200" b="0" i="0" u="none" strike="noStrike" cap="none" spc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sym typeface="Roboto"/>
                        </a:rPr>
                        <a:t> c </a:t>
                      </a:r>
                      <a:r>
                        <a:rPr lang="ru-RU" sz="1200" b="0" i="0" u="none" strike="noStrike" cap="none" spc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sym typeface="Roboto"/>
                        </a:rPr>
                        <a:t>сохранением данных</a:t>
                      </a:r>
                      <a:endParaRPr sz="1200" b="0" i="0" u="none" strike="noStrike" cap="none" spc="0" dirty="0">
                        <a:solidFill>
                          <a:schemeClr val="dk1"/>
                        </a:solidFill>
                        <a:latin typeface="Roboto"/>
                        <a:ea typeface="Roboto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200" b="0" i="0" u="none" strike="noStrike" cap="none" spc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Arial"/>
                          <a:sym typeface="Roboto"/>
                        </a:rPr>
                        <a:t>Настройка логической репликации между двумя </a:t>
                      </a:r>
                      <a:r>
                        <a:rPr lang="en-US" sz="1200" b="0" i="0" u="none" strike="noStrike" cap="none" spc="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Arial"/>
                          <a:sym typeface="Roboto"/>
                        </a:rPr>
                        <a:t>citus</a:t>
                      </a:r>
                      <a:r>
                        <a:rPr lang="en-US" sz="1200" b="0" i="0" u="none" strike="noStrike" cap="none" spc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Arial"/>
                          <a:sym typeface="Roboto"/>
                        </a:rPr>
                        <a:t> </a:t>
                      </a:r>
                      <a:r>
                        <a:rPr lang="ru-RU" sz="1200" b="0" i="0" u="none" strike="noStrike" cap="none" spc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Arial"/>
                          <a:sym typeface="Roboto"/>
                        </a:rPr>
                        <a:t>кластерами</a:t>
                      </a:r>
                      <a:endParaRPr sz="1200" b="0" i="0" u="none" strike="noStrike" cap="none" spc="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900" b="0" i="0" u="none" strike="noStrike" cap="none" spc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Arial"/>
                          <a:sym typeface="Arial"/>
                        </a:rPr>
                        <a:t>Пока реплика обновлялась до версии 18, старый кластер (v16) продолжал принимать записи. Логическая репликация использовалась для переноса новых данных, а </a:t>
                      </a:r>
                      <a:r>
                        <a:rPr lang="ru-RU" sz="900" b="0" i="0" u="none" strike="noStrike" cap="none" spc="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Arial"/>
                          <a:sym typeface="Arial"/>
                        </a:rPr>
                        <a:t>pg_dump</a:t>
                      </a:r>
                      <a:r>
                        <a:rPr lang="ru-RU" sz="900" b="0" i="0" u="none" strike="noStrike" cap="none" spc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Arial"/>
                          <a:sym typeface="Arial"/>
                        </a:rPr>
                        <a:t> — для изменений, накопленных за время обновления.</a:t>
                      </a:r>
                      <a:endParaRPr sz="900" b="0" i="0" u="none" strike="noStrike" cap="none" spc="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200" b="0" i="0" u="none" strike="noStrike" cap="none" spc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Arial"/>
                          <a:sym typeface="Roboto"/>
                        </a:rPr>
                        <a:t>Синхронизация узлов</a:t>
                      </a:r>
                      <a:endParaRPr sz="1200" b="0" i="0" u="none" strike="noStrike" cap="none" spc="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Arial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8851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1"/>
          <p:cNvSpPr txBox="1">
            <a:spLocks noGrp="1"/>
          </p:cNvSpPr>
          <p:nvPr>
            <p:ph type="title"/>
          </p:nvPr>
        </p:nvSpPr>
        <p:spPr>
          <a:xfrm>
            <a:off x="623400" y="42597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Логическая репликация</a:t>
            </a:r>
            <a:endParaRPr dirty="0"/>
          </a:p>
        </p:txBody>
      </p:sp>
      <p:sp>
        <p:nvSpPr>
          <p:cNvPr id="15" name="Google Shape;440;p62">
            <a:extLst>
              <a:ext uri="{FF2B5EF4-FFF2-40B4-BE49-F238E27FC236}">
                <a16:creationId xmlns:a16="http://schemas.microsoft.com/office/drawing/2014/main" id="{B98E3FCE-35A6-4145-A1BD-B6C790C1C6E2}"/>
              </a:ext>
            </a:extLst>
          </p:cNvPr>
          <p:cNvSpPr/>
          <p:nvPr/>
        </p:nvSpPr>
        <p:spPr>
          <a:xfrm>
            <a:off x="551815" y="1940596"/>
            <a:ext cx="4020185" cy="24006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" name="Google Shape;441;p62">
            <a:extLst>
              <a:ext uri="{FF2B5EF4-FFF2-40B4-BE49-F238E27FC236}">
                <a16:creationId xmlns:a16="http://schemas.microsoft.com/office/drawing/2014/main" id="{9A02DFC3-ADB2-43AC-ADCB-D41CC46D32FA}"/>
              </a:ext>
            </a:extLst>
          </p:cNvPr>
          <p:cNvSpPr txBox="1"/>
          <p:nvPr/>
        </p:nvSpPr>
        <p:spPr>
          <a:xfrm>
            <a:off x="642018" y="2410896"/>
            <a:ext cx="3649763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Пробовал настроить логическую репликацию вручную и через специализированный инструмент </a:t>
            </a:r>
            <a:r>
              <a:rPr lang="en-US" sz="1300" dirty="0" err="1">
                <a:latin typeface="Roboto"/>
                <a:ea typeface="Roboto"/>
                <a:cs typeface="Roboto"/>
                <a:sym typeface="Roboto"/>
              </a:rPr>
              <a:t>pgcopydb</a:t>
            </a: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входит в состав репозитория </a:t>
            </a:r>
            <a:r>
              <a:rPr lang="en-US" sz="1300" dirty="0" err="1">
                <a:latin typeface="Roboto"/>
                <a:ea typeface="Roboto"/>
                <a:cs typeface="Roboto"/>
                <a:sym typeface="Roboto"/>
              </a:rPr>
              <a:t>pgdg</a:t>
            </a: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). </a:t>
            </a: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Перенести старые данные удавалось, а настроить передачу новых нет.</a:t>
            </a:r>
            <a:endParaRPr sz="13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" name="Google Shape;443;p62">
            <a:extLst>
              <a:ext uri="{FF2B5EF4-FFF2-40B4-BE49-F238E27FC236}">
                <a16:creationId xmlns:a16="http://schemas.microsoft.com/office/drawing/2014/main" id="{DFAD7778-656F-43AF-9966-EB004A40675C}"/>
              </a:ext>
            </a:extLst>
          </p:cNvPr>
          <p:cNvSpPr txBox="1"/>
          <p:nvPr/>
        </p:nvSpPr>
        <p:spPr>
          <a:xfrm>
            <a:off x="752168" y="2005122"/>
            <a:ext cx="3416709" cy="446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 err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Citus</a:t>
            </a:r>
            <a:r>
              <a:rPr lang="en-US" sz="1700" b="1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-&gt; </a:t>
            </a:r>
            <a:r>
              <a:rPr lang="en-US" sz="1700" b="1" dirty="0" err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Citus</a:t>
            </a:r>
            <a:r>
              <a:rPr lang="ru-RU" sz="1700" b="1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 (не удалось)</a:t>
            </a:r>
            <a:endParaRPr sz="1700" b="1" dirty="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" name="Google Shape;440;p62">
            <a:extLst>
              <a:ext uri="{FF2B5EF4-FFF2-40B4-BE49-F238E27FC236}">
                <a16:creationId xmlns:a16="http://schemas.microsoft.com/office/drawing/2014/main" id="{4316A2DE-7293-44A8-857E-6655AC448719}"/>
              </a:ext>
            </a:extLst>
          </p:cNvPr>
          <p:cNvSpPr/>
          <p:nvPr/>
        </p:nvSpPr>
        <p:spPr>
          <a:xfrm>
            <a:off x="5329861" y="1940596"/>
            <a:ext cx="2816707" cy="24006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" name="Google Shape;441;p62">
            <a:extLst>
              <a:ext uri="{FF2B5EF4-FFF2-40B4-BE49-F238E27FC236}">
                <a16:creationId xmlns:a16="http://schemas.microsoft.com/office/drawing/2014/main" id="{1CABFB4F-0E63-44FB-8ABD-D56E41C16BB9}"/>
              </a:ext>
            </a:extLst>
          </p:cNvPr>
          <p:cNvSpPr txBox="1"/>
          <p:nvPr/>
        </p:nvSpPr>
        <p:spPr>
          <a:xfrm>
            <a:off x="5538174" y="2463193"/>
            <a:ext cx="2302743" cy="133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Удалось настроить передачу как старых данных так и новых через ручную настройку логической репликации</a:t>
            </a:r>
            <a:endParaRPr sz="13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" name="Google Shape;443;p62">
            <a:extLst>
              <a:ext uri="{FF2B5EF4-FFF2-40B4-BE49-F238E27FC236}">
                <a16:creationId xmlns:a16="http://schemas.microsoft.com/office/drawing/2014/main" id="{561029B2-C754-4173-AD57-B36F7502B6D3}"/>
              </a:ext>
            </a:extLst>
          </p:cNvPr>
          <p:cNvSpPr txBox="1"/>
          <p:nvPr/>
        </p:nvSpPr>
        <p:spPr>
          <a:xfrm>
            <a:off x="5592251" y="2062922"/>
            <a:ext cx="2302743" cy="446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 err="1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Citus</a:t>
            </a:r>
            <a:r>
              <a:rPr lang="en-US" sz="1700" b="1" dirty="0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 -&gt; Standalone</a:t>
            </a:r>
            <a:endParaRPr sz="1700" b="1" dirty="0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BE435C-8346-4CFF-B3B3-1FD00B5B1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Настроить логическую репликацию между двумя Citus-кластерами не получилось. Пробовали вручную и через 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pgcopydb</a:t>
            </a:r>
            <a: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 — результат отрицательный.</a:t>
            </a:r>
            <a:r>
              <a:rPr kumimoji="0" lang="ru-RU" altLang="ru-RU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949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2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Логическая репликация</a:t>
            </a:r>
            <a:endParaRPr dirty="0"/>
          </a:p>
        </p:txBody>
      </p:sp>
      <p:sp>
        <p:nvSpPr>
          <p:cNvPr id="584" name="Google Shape;584;p72"/>
          <p:cNvSpPr txBox="1">
            <a:spLocks noGrp="1"/>
          </p:cNvSpPr>
          <p:nvPr>
            <p:ph type="subTitle" idx="1"/>
          </p:nvPr>
        </p:nvSpPr>
        <p:spPr>
          <a:xfrm>
            <a:off x="399546" y="1357664"/>
            <a:ext cx="3833241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n-US" b="1" dirty="0" err="1"/>
              <a:t>psql</a:t>
            </a:r>
            <a:r>
              <a:rPr lang="en-US" b="1" dirty="0"/>
              <a:t> -d coord-16 -p 6432 -U </a:t>
            </a:r>
            <a:r>
              <a:rPr lang="en-US" b="1" dirty="0" err="1"/>
              <a:t>postgres</a:t>
            </a:r>
            <a:r>
              <a:rPr lang="en-US" b="1" dirty="0"/>
              <a:t> -h balancer</a:t>
            </a:r>
          </a:p>
          <a:p>
            <a:pPr marL="0" indent="0"/>
            <a:endParaRPr lang="ru-RU" dirty="0"/>
          </a:p>
          <a:p>
            <a:pPr marL="0" indent="0"/>
            <a:endParaRPr lang="ru-RU" dirty="0"/>
          </a:p>
          <a:p>
            <a:pPr marL="0" indent="0"/>
            <a:r>
              <a:rPr lang="en-US" b="1" dirty="0"/>
              <a:t>CREATE PUBLICATION </a:t>
            </a:r>
            <a:r>
              <a:rPr lang="en-US" b="1" dirty="0" err="1"/>
              <a:t>companies_pub</a:t>
            </a:r>
            <a:r>
              <a:rPr lang="en-US" b="1" dirty="0"/>
              <a:t> FOR TABLE companies;</a:t>
            </a:r>
            <a:br>
              <a:rPr lang="en-US" b="1" dirty="0"/>
            </a:br>
            <a:r>
              <a:rPr lang="en-US" b="1" dirty="0"/>
              <a:t>CREATE PUBLICATION </a:t>
            </a:r>
            <a:r>
              <a:rPr lang="en-US" b="1" dirty="0" err="1"/>
              <a:t>campaigns_pub</a:t>
            </a:r>
            <a:r>
              <a:rPr lang="en-US" b="1" dirty="0"/>
              <a:t> FOR TABLE campaigns;</a:t>
            </a:r>
            <a:br>
              <a:rPr lang="en-US" b="1" dirty="0"/>
            </a:br>
            <a:r>
              <a:rPr lang="en-US" b="1" dirty="0"/>
              <a:t>CREATE PUBLICATION </a:t>
            </a:r>
            <a:r>
              <a:rPr lang="en-US" b="1" dirty="0" err="1"/>
              <a:t>ads_pub</a:t>
            </a:r>
            <a:r>
              <a:rPr lang="en-US" b="1" dirty="0"/>
              <a:t> FOR TABLE ads;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indent="0"/>
            <a:r>
              <a:rPr lang="en-US" b="1" dirty="0"/>
              <a:t>SELECT * FROM </a:t>
            </a:r>
            <a:r>
              <a:rPr lang="en-US" b="1" dirty="0" err="1"/>
              <a:t>run_command_on_all_nodes</a:t>
            </a:r>
            <a:r>
              <a:rPr lang="en-US" b="1" dirty="0"/>
              <a:t>( SELECT </a:t>
            </a:r>
            <a:r>
              <a:rPr lang="en-US" b="1" dirty="0" err="1"/>
              <a:t>pg_create_logical_replication_slot</a:t>
            </a:r>
            <a:r>
              <a:rPr lang="en-US" b="1" dirty="0"/>
              <a:t>('</a:t>
            </a:r>
            <a:r>
              <a:rPr lang="en-US" b="1" dirty="0" err="1"/>
              <a:t>cdc_slot</a:t>
            </a:r>
            <a:r>
              <a:rPr lang="en-US" b="1" dirty="0"/>
              <a:t>', '</a:t>
            </a:r>
            <a:r>
              <a:rPr lang="en-US" b="1" dirty="0" err="1"/>
              <a:t>pgoutput</a:t>
            </a:r>
            <a:r>
              <a:rPr lang="en-US" b="1" dirty="0"/>
              <a:t>', false) );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Google Shape;461;p64">
            <a:extLst>
              <a:ext uri="{FF2B5EF4-FFF2-40B4-BE49-F238E27FC236}">
                <a16:creationId xmlns:a16="http://schemas.microsoft.com/office/drawing/2014/main" id="{629C7E79-0D07-41A6-A769-BEE7DCDA89C0}"/>
              </a:ext>
            </a:extLst>
          </p:cNvPr>
          <p:cNvSpPr/>
          <p:nvPr/>
        </p:nvSpPr>
        <p:spPr>
          <a:xfrm>
            <a:off x="4571999" y="1875892"/>
            <a:ext cx="3333135" cy="1275347"/>
          </a:xfrm>
          <a:prstGeom prst="roundRect">
            <a:avLst>
              <a:gd name="adj" fmla="val 13977"/>
            </a:avLst>
          </a:prstGeom>
          <a:solidFill>
            <a:srgbClr val="3F299A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" name="Google Shape;462;p64">
            <a:extLst>
              <a:ext uri="{FF2B5EF4-FFF2-40B4-BE49-F238E27FC236}">
                <a16:creationId xmlns:a16="http://schemas.microsoft.com/office/drawing/2014/main" id="{CB9CFA2E-8017-43F8-9670-32E8F32BEC73}"/>
              </a:ext>
            </a:extLst>
          </p:cNvPr>
          <p:cNvSpPr txBox="1"/>
          <p:nvPr/>
        </p:nvSpPr>
        <p:spPr>
          <a:xfrm>
            <a:off x="4750799" y="2064795"/>
            <a:ext cx="2834787" cy="927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Публикации автоматически реплицируются на все узлы кластера </a:t>
            </a:r>
            <a:r>
              <a:rPr lang="en-US" dirty="0" err="1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Citus</a:t>
            </a:r>
            <a:endParaRPr dirty="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" name="Google Shape;461;p64">
            <a:extLst>
              <a:ext uri="{FF2B5EF4-FFF2-40B4-BE49-F238E27FC236}">
                <a16:creationId xmlns:a16="http://schemas.microsoft.com/office/drawing/2014/main" id="{6484FD5A-DA06-480A-8195-C28950AEF3E1}"/>
              </a:ext>
            </a:extLst>
          </p:cNvPr>
          <p:cNvSpPr/>
          <p:nvPr/>
        </p:nvSpPr>
        <p:spPr>
          <a:xfrm>
            <a:off x="4571999" y="3355647"/>
            <a:ext cx="3333135" cy="1275348"/>
          </a:xfrm>
          <a:prstGeom prst="roundRect">
            <a:avLst>
              <a:gd name="adj" fmla="val 13977"/>
            </a:avLst>
          </a:prstGeom>
          <a:solidFill>
            <a:srgbClr val="3F299A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Google Shape;462;p64">
            <a:extLst>
              <a:ext uri="{FF2B5EF4-FFF2-40B4-BE49-F238E27FC236}">
                <a16:creationId xmlns:a16="http://schemas.microsoft.com/office/drawing/2014/main" id="{34F3D80E-0A8E-4660-9BB6-1ABFB343D633}"/>
              </a:ext>
            </a:extLst>
          </p:cNvPr>
          <p:cNvSpPr txBox="1"/>
          <p:nvPr/>
        </p:nvSpPr>
        <p:spPr>
          <a:xfrm>
            <a:off x="4750799" y="3460976"/>
            <a:ext cx="2834787" cy="927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Слоты репликации необходимо создавать вручную</a:t>
            </a:r>
            <a:endParaRPr dirty="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  <p:extLst>
      <p:ext uri="{BB962C8B-B14F-4D97-AF65-F5344CB8AC3E}">
        <p14:creationId xmlns:p14="http://schemas.microsoft.com/office/powerpoint/2010/main" val="3344270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2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Логическая репликация</a:t>
            </a:r>
            <a:endParaRPr dirty="0"/>
          </a:p>
        </p:txBody>
      </p:sp>
      <p:sp>
        <p:nvSpPr>
          <p:cNvPr id="584" name="Google Shape;584;p72"/>
          <p:cNvSpPr txBox="1">
            <a:spLocks noGrp="1"/>
          </p:cNvSpPr>
          <p:nvPr>
            <p:ph type="subTitle" idx="1"/>
          </p:nvPr>
        </p:nvSpPr>
        <p:spPr>
          <a:xfrm>
            <a:off x="399546" y="1357664"/>
            <a:ext cx="3833241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r>
              <a:rPr lang="en-US" sz="1400" b="1" baseline="-25000" dirty="0" err="1"/>
              <a:t>psql</a:t>
            </a:r>
            <a:r>
              <a:rPr lang="en-US" sz="1400" b="1" baseline="-25000" dirty="0"/>
              <a:t> -d coord-18 -p 6432 -U </a:t>
            </a:r>
            <a:r>
              <a:rPr lang="en-US" sz="1400" b="1" baseline="-25000" dirty="0" err="1"/>
              <a:t>postgres</a:t>
            </a:r>
            <a:r>
              <a:rPr lang="en-US" sz="1400" b="1" baseline="-25000" dirty="0"/>
              <a:t> -h balancer</a:t>
            </a:r>
          </a:p>
          <a:p>
            <a:pPr marL="0" indent="0"/>
            <a:endParaRPr lang="ru-RU" sz="1400" b="1" baseline="-25000" dirty="0"/>
          </a:p>
          <a:p>
            <a:pPr marL="0" indent="0"/>
            <a:endParaRPr lang="ru-RU" sz="1400" b="1" baseline="-25000" dirty="0"/>
          </a:p>
          <a:p>
            <a:r>
              <a:rPr lang="en-US" sz="1400" b="1" baseline="-25000" dirty="0"/>
              <a:t>CREATE SUBSCRIPTION </a:t>
            </a:r>
            <a:r>
              <a:rPr lang="en-US" sz="1400" b="1" baseline="-25000" dirty="0" err="1"/>
              <a:t>coord_sub</a:t>
            </a:r>
            <a:br>
              <a:rPr lang="en-US" sz="1400" b="1" baseline="-25000" dirty="0"/>
            </a:br>
            <a:r>
              <a:rPr lang="en-US" sz="1400" b="1" baseline="-25000" dirty="0"/>
              <a:t>CONNECTION 'host=balancer port=5000 user=</a:t>
            </a:r>
            <a:r>
              <a:rPr lang="en-US" sz="1400" b="1" baseline="-25000" dirty="0" err="1"/>
              <a:t>postgres</a:t>
            </a:r>
            <a:r>
              <a:rPr lang="en-US" sz="1400" b="1" baseline="-25000" dirty="0"/>
              <a:t> </a:t>
            </a:r>
            <a:r>
              <a:rPr lang="en-US" sz="1400" b="1" baseline="-25000" dirty="0" err="1"/>
              <a:t>dbname</a:t>
            </a:r>
            <a:r>
              <a:rPr lang="en-US" sz="1400" b="1" baseline="-25000" dirty="0"/>
              <a:t>=</a:t>
            </a:r>
            <a:r>
              <a:rPr lang="en-US" sz="1400" b="1" baseline="-25000" dirty="0" err="1"/>
              <a:t>postgres</a:t>
            </a:r>
            <a:r>
              <a:rPr lang="en-US" sz="1400" b="1" baseline="-25000" dirty="0"/>
              <a:t>'</a:t>
            </a:r>
            <a:br>
              <a:rPr lang="en-US" sz="1400" b="1" baseline="-25000" dirty="0"/>
            </a:br>
            <a:r>
              <a:rPr lang="en-US" sz="1400" b="1" baseline="-25000" dirty="0"/>
              <a:t>PUBLICATION </a:t>
            </a:r>
            <a:r>
              <a:rPr lang="en-US" sz="1400" b="1" baseline="-25000" dirty="0" err="1"/>
              <a:t>companies_pub</a:t>
            </a:r>
            <a:r>
              <a:rPr lang="en-US" sz="1400" b="1" baseline="-25000" dirty="0"/>
              <a:t>, </a:t>
            </a:r>
            <a:r>
              <a:rPr lang="en-US" sz="1400" b="1" baseline="-25000" dirty="0" err="1"/>
              <a:t>campaigns_pub</a:t>
            </a:r>
            <a:r>
              <a:rPr lang="en-US" sz="1400" b="1" baseline="-25000" dirty="0"/>
              <a:t>, </a:t>
            </a:r>
            <a:r>
              <a:rPr lang="en-US" sz="1400" b="1" baseline="-25000" dirty="0" err="1"/>
              <a:t>ads_pub</a:t>
            </a:r>
            <a:br>
              <a:rPr lang="en-US" sz="1400" b="1" baseline="-25000" dirty="0"/>
            </a:br>
            <a:r>
              <a:rPr lang="en-US" sz="1400" b="1" baseline="-25000" dirty="0"/>
              <a:t>WITH (</a:t>
            </a:r>
            <a:r>
              <a:rPr lang="en-US" sz="1400" b="1" baseline="-25000" dirty="0" err="1">
                <a:highlight>
                  <a:srgbClr val="FFFF00"/>
                </a:highlight>
              </a:rPr>
              <a:t>copy_data</a:t>
            </a:r>
            <a:r>
              <a:rPr lang="en-US" sz="1400" b="1" baseline="-25000" dirty="0">
                <a:highlight>
                  <a:srgbClr val="FFFF00"/>
                </a:highlight>
              </a:rPr>
              <a:t> = true</a:t>
            </a:r>
            <a:r>
              <a:rPr lang="en-US" sz="1400" b="1" baseline="-25000" dirty="0"/>
              <a:t>, </a:t>
            </a:r>
            <a:r>
              <a:rPr lang="en-US" sz="1400" b="1" baseline="-25000" dirty="0" err="1"/>
              <a:t>create_slot</a:t>
            </a:r>
            <a:r>
              <a:rPr lang="en-US" sz="1400" b="1" baseline="-25000" dirty="0"/>
              <a:t> = false, </a:t>
            </a:r>
            <a:r>
              <a:rPr lang="en-US" sz="1400" b="1" baseline="-25000" dirty="0" err="1"/>
              <a:t>slot_name</a:t>
            </a:r>
            <a:r>
              <a:rPr lang="en-US" sz="1400" b="1" baseline="-25000" dirty="0"/>
              <a:t> = '</a:t>
            </a:r>
            <a:r>
              <a:rPr lang="en-US" sz="1400" b="1" baseline="-25000" dirty="0" err="1"/>
              <a:t>cdc_slot</a:t>
            </a:r>
            <a:r>
              <a:rPr lang="en-US" sz="1400" b="1" baseline="-25000" dirty="0"/>
              <a:t>’);</a:t>
            </a:r>
          </a:p>
          <a:p>
            <a:endParaRPr lang="ru-RU" sz="1400" b="1" baseline="-25000" dirty="0"/>
          </a:p>
          <a:p>
            <a:r>
              <a:rPr lang="en-US" sz="1400" b="1" baseline="-25000" dirty="0"/>
              <a:t>CREATE SUBSCRIPTION worker1_sub</a:t>
            </a:r>
            <a:br>
              <a:rPr lang="en-US" sz="1400" b="1" baseline="-25000" dirty="0"/>
            </a:br>
            <a:r>
              <a:rPr lang="en-US" sz="1400" b="1" baseline="-25000" dirty="0"/>
              <a:t>CONNECTION 'host=balancer port=5010 user=</a:t>
            </a:r>
            <a:r>
              <a:rPr lang="en-US" sz="1400" b="1" baseline="-25000" dirty="0" err="1"/>
              <a:t>postgres</a:t>
            </a:r>
            <a:r>
              <a:rPr lang="en-US" sz="1400" b="1" baseline="-25000" dirty="0"/>
              <a:t> </a:t>
            </a:r>
            <a:r>
              <a:rPr lang="en-US" sz="1400" b="1" baseline="-25000" dirty="0" err="1"/>
              <a:t>dbname</a:t>
            </a:r>
            <a:r>
              <a:rPr lang="en-US" sz="1400" b="1" baseline="-25000" dirty="0"/>
              <a:t>=</a:t>
            </a:r>
            <a:r>
              <a:rPr lang="en-US" sz="1400" b="1" baseline="-25000" dirty="0" err="1"/>
              <a:t>postgres</a:t>
            </a:r>
            <a:r>
              <a:rPr lang="en-US" sz="1400" b="1" baseline="-25000" dirty="0"/>
              <a:t>'</a:t>
            </a:r>
            <a:br>
              <a:rPr lang="en-US" sz="1400" b="1" baseline="-25000" dirty="0"/>
            </a:br>
            <a:r>
              <a:rPr lang="en-US" sz="1400" b="1" baseline="-25000" dirty="0"/>
              <a:t>PUBLICATION </a:t>
            </a:r>
            <a:r>
              <a:rPr lang="en-US" sz="1400" b="1" baseline="-25000" dirty="0" err="1"/>
              <a:t>companies_pub</a:t>
            </a:r>
            <a:r>
              <a:rPr lang="en-US" sz="1400" b="1" baseline="-25000" dirty="0"/>
              <a:t>, </a:t>
            </a:r>
            <a:r>
              <a:rPr lang="en-US" sz="1400" b="1" baseline="-25000" dirty="0" err="1"/>
              <a:t>campaigns_pub</a:t>
            </a:r>
            <a:r>
              <a:rPr lang="en-US" sz="1400" b="1" baseline="-25000" dirty="0"/>
              <a:t>, </a:t>
            </a:r>
            <a:r>
              <a:rPr lang="en-US" sz="1400" b="1" baseline="-25000" dirty="0" err="1"/>
              <a:t>ads_pub</a:t>
            </a:r>
            <a:br>
              <a:rPr lang="en-US" sz="1400" b="1" baseline="-25000" dirty="0"/>
            </a:br>
            <a:r>
              <a:rPr lang="en-US" sz="1400" b="1" baseline="-25000" dirty="0"/>
              <a:t>WITH (</a:t>
            </a:r>
            <a:r>
              <a:rPr lang="en-US" sz="1400" b="1" baseline="-25000" dirty="0" err="1">
                <a:highlight>
                  <a:srgbClr val="FFFF00"/>
                </a:highlight>
              </a:rPr>
              <a:t>copy_data</a:t>
            </a:r>
            <a:r>
              <a:rPr lang="en-US" sz="1400" b="1" baseline="-25000" dirty="0">
                <a:highlight>
                  <a:srgbClr val="FFFF00"/>
                </a:highlight>
              </a:rPr>
              <a:t> = false</a:t>
            </a:r>
            <a:r>
              <a:rPr lang="en-US" sz="1400" b="1" baseline="-25000" dirty="0"/>
              <a:t>, </a:t>
            </a:r>
            <a:r>
              <a:rPr lang="en-US" sz="1400" b="1" baseline="-25000" dirty="0" err="1"/>
              <a:t>create_slot</a:t>
            </a:r>
            <a:r>
              <a:rPr lang="en-US" sz="1400" b="1" baseline="-25000" dirty="0"/>
              <a:t> = false, </a:t>
            </a:r>
            <a:r>
              <a:rPr lang="en-US" sz="1400" b="1" baseline="-25000" dirty="0" err="1"/>
              <a:t>slot_name</a:t>
            </a:r>
            <a:r>
              <a:rPr lang="en-US" sz="1400" b="1" baseline="-25000" dirty="0"/>
              <a:t> = '</a:t>
            </a:r>
            <a:r>
              <a:rPr lang="en-US" sz="1400" b="1" baseline="-25000" dirty="0" err="1"/>
              <a:t>cdc_slot</a:t>
            </a:r>
            <a:r>
              <a:rPr lang="en-US" sz="1400" b="1" baseline="-25000" dirty="0"/>
              <a:t>’);</a:t>
            </a:r>
          </a:p>
          <a:p>
            <a:endParaRPr lang="ru-RU" sz="1400" b="1" baseline="-25000" dirty="0"/>
          </a:p>
          <a:p>
            <a:r>
              <a:rPr lang="en-US" sz="1400" b="1" baseline="-25000" dirty="0"/>
              <a:t>CREATE SUBSCRIPTION worker2_sub</a:t>
            </a:r>
            <a:br>
              <a:rPr lang="en-US" sz="1400" b="1" baseline="-25000" dirty="0"/>
            </a:br>
            <a:r>
              <a:rPr lang="en-US" sz="1400" b="1" baseline="-25000" dirty="0"/>
              <a:t>CONNECTION 'host=balancer port=5020 user=</a:t>
            </a:r>
            <a:r>
              <a:rPr lang="en-US" sz="1400" b="1" baseline="-25000" dirty="0" err="1"/>
              <a:t>postgres</a:t>
            </a:r>
            <a:r>
              <a:rPr lang="en-US" sz="1400" b="1" baseline="-25000" dirty="0"/>
              <a:t> </a:t>
            </a:r>
            <a:r>
              <a:rPr lang="en-US" sz="1400" b="1" baseline="-25000" dirty="0" err="1"/>
              <a:t>dbname</a:t>
            </a:r>
            <a:r>
              <a:rPr lang="en-US" sz="1400" b="1" baseline="-25000" dirty="0"/>
              <a:t>=</a:t>
            </a:r>
            <a:r>
              <a:rPr lang="en-US" sz="1400" b="1" baseline="-25000" dirty="0" err="1"/>
              <a:t>postgres</a:t>
            </a:r>
            <a:r>
              <a:rPr lang="en-US" sz="1400" b="1" baseline="-25000" dirty="0"/>
              <a:t>'</a:t>
            </a:r>
            <a:br>
              <a:rPr lang="en-US" sz="1400" b="1" baseline="-25000" dirty="0"/>
            </a:br>
            <a:r>
              <a:rPr lang="en-US" sz="1400" b="1" baseline="-25000" dirty="0"/>
              <a:t>PUBLICATION </a:t>
            </a:r>
            <a:r>
              <a:rPr lang="en-US" sz="1400" b="1" baseline="-25000" dirty="0" err="1"/>
              <a:t>companies_pub</a:t>
            </a:r>
            <a:r>
              <a:rPr lang="en-US" sz="1400" b="1" baseline="-25000" dirty="0"/>
              <a:t>, </a:t>
            </a:r>
            <a:r>
              <a:rPr lang="en-US" sz="1400" b="1" baseline="-25000" dirty="0" err="1"/>
              <a:t>campaigns_pub</a:t>
            </a:r>
            <a:r>
              <a:rPr lang="en-US" sz="1400" b="1" baseline="-25000" dirty="0"/>
              <a:t>, </a:t>
            </a:r>
            <a:r>
              <a:rPr lang="en-US" sz="1400" b="1" baseline="-25000" dirty="0" err="1"/>
              <a:t>ads_pub</a:t>
            </a:r>
            <a:br>
              <a:rPr lang="en-US" sz="1400" b="1" baseline="-25000" dirty="0"/>
            </a:br>
            <a:r>
              <a:rPr lang="en-US" sz="1400" b="1" baseline="-25000" dirty="0"/>
              <a:t>WITH (</a:t>
            </a:r>
            <a:r>
              <a:rPr lang="en-US" sz="1400" b="1" baseline="-25000" dirty="0" err="1">
                <a:highlight>
                  <a:srgbClr val="FFFF00"/>
                </a:highlight>
              </a:rPr>
              <a:t>copy_data</a:t>
            </a:r>
            <a:r>
              <a:rPr lang="en-US" sz="1400" b="1" baseline="-25000" dirty="0">
                <a:highlight>
                  <a:srgbClr val="FFFF00"/>
                </a:highlight>
              </a:rPr>
              <a:t> = false</a:t>
            </a:r>
            <a:r>
              <a:rPr lang="en-US" sz="1400" b="1" baseline="-25000" dirty="0"/>
              <a:t>, </a:t>
            </a:r>
            <a:r>
              <a:rPr lang="en-US" sz="1400" b="1" baseline="-25000" dirty="0" err="1"/>
              <a:t>create_slot</a:t>
            </a:r>
            <a:r>
              <a:rPr lang="en-US" sz="1400" b="1" baseline="-25000" dirty="0"/>
              <a:t> = false, </a:t>
            </a:r>
            <a:r>
              <a:rPr lang="en-US" sz="1400" b="1" baseline="-25000" dirty="0" err="1"/>
              <a:t>slot_name</a:t>
            </a:r>
            <a:r>
              <a:rPr lang="en-US" sz="1400" b="1" baseline="-25000" dirty="0"/>
              <a:t> = '</a:t>
            </a:r>
            <a:r>
              <a:rPr lang="en-US" sz="1400" b="1" baseline="-25000" dirty="0" err="1"/>
              <a:t>cdc_slot</a:t>
            </a:r>
            <a:r>
              <a:rPr lang="en-US" sz="1400" b="1" baseline="-25000" dirty="0"/>
              <a:t>');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Google Shape;461;p64">
            <a:extLst>
              <a:ext uri="{FF2B5EF4-FFF2-40B4-BE49-F238E27FC236}">
                <a16:creationId xmlns:a16="http://schemas.microsoft.com/office/drawing/2014/main" id="{629C7E79-0D07-41A6-A769-BEE7DCDA89C0}"/>
              </a:ext>
            </a:extLst>
          </p:cNvPr>
          <p:cNvSpPr/>
          <p:nvPr/>
        </p:nvSpPr>
        <p:spPr>
          <a:xfrm>
            <a:off x="4527754" y="1057744"/>
            <a:ext cx="3333135" cy="1275347"/>
          </a:xfrm>
          <a:prstGeom prst="roundRect">
            <a:avLst>
              <a:gd name="adj" fmla="val 13977"/>
            </a:avLst>
          </a:prstGeom>
          <a:solidFill>
            <a:srgbClr val="3F299A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" name="Google Shape;462;p64">
            <a:extLst>
              <a:ext uri="{FF2B5EF4-FFF2-40B4-BE49-F238E27FC236}">
                <a16:creationId xmlns:a16="http://schemas.microsoft.com/office/drawing/2014/main" id="{CB9CFA2E-8017-43F8-9670-32E8F32BEC73}"/>
              </a:ext>
            </a:extLst>
          </p:cNvPr>
          <p:cNvSpPr txBox="1"/>
          <p:nvPr/>
        </p:nvSpPr>
        <p:spPr>
          <a:xfrm>
            <a:off x="4706554" y="1231460"/>
            <a:ext cx="2834787" cy="927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На обновлённом узле необходимо воссоздать структуру таблиц.</a:t>
            </a:r>
            <a:endParaRPr dirty="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" name="Google Shape;461;p64">
            <a:extLst>
              <a:ext uri="{FF2B5EF4-FFF2-40B4-BE49-F238E27FC236}">
                <a16:creationId xmlns:a16="http://schemas.microsoft.com/office/drawing/2014/main" id="{6484FD5A-DA06-480A-8195-C28950AEF3E1}"/>
              </a:ext>
            </a:extLst>
          </p:cNvPr>
          <p:cNvSpPr/>
          <p:nvPr/>
        </p:nvSpPr>
        <p:spPr>
          <a:xfrm>
            <a:off x="4527754" y="2422425"/>
            <a:ext cx="3495369" cy="2095498"/>
          </a:xfrm>
          <a:prstGeom prst="roundRect">
            <a:avLst>
              <a:gd name="adj" fmla="val 13977"/>
            </a:avLst>
          </a:prstGeom>
          <a:solidFill>
            <a:srgbClr val="3F299A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Google Shape;462;p64">
            <a:extLst>
              <a:ext uri="{FF2B5EF4-FFF2-40B4-BE49-F238E27FC236}">
                <a16:creationId xmlns:a16="http://schemas.microsoft.com/office/drawing/2014/main" id="{34F3D80E-0A8E-4660-9BB6-1ABFB343D633}"/>
              </a:ext>
            </a:extLst>
          </p:cNvPr>
          <p:cNvSpPr txBox="1"/>
          <p:nvPr/>
        </p:nvSpPr>
        <p:spPr>
          <a:xfrm>
            <a:off x="4706554" y="2527754"/>
            <a:ext cx="2834787" cy="191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Создать подписки на все узлы старого </a:t>
            </a:r>
            <a:r>
              <a:rPr lang="en-US" dirty="0" err="1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citus</a:t>
            </a:r>
            <a:r>
              <a:rPr lang="en-US" dirty="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ru-RU" dirty="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кластера.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dirty="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При этом подписка </a:t>
            </a:r>
            <a:r>
              <a:rPr lang="en-US" dirty="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c </a:t>
            </a:r>
            <a:r>
              <a:rPr lang="en-US" dirty="0" err="1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copy_data</a:t>
            </a:r>
            <a:r>
              <a:rPr lang="en-US" dirty="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=true </a:t>
            </a:r>
            <a:r>
              <a:rPr lang="ru-RU" dirty="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должна быть только одна для исключения дублирования данных</a:t>
            </a:r>
            <a:endParaRPr dirty="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  <p:extLst>
      <p:ext uri="{BB962C8B-B14F-4D97-AF65-F5344CB8AC3E}">
        <p14:creationId xmlns:p14="http://schemas.microsoft.com/office/powerpoint/2010/main" val="19966018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6"/>
          <p:cNvSpPr txBox="1">
            <a:spLocks noGrp="1"/>
          </p:cNvSpPr>
          <p:nvPr>
            <p:ph type="title"/>
          </p:nvPr>
        </p:nvSpPr>
        <p:spPr>
          <a:xfrm>
            <a:off x="611950" y="318675"/>
            <a:ext cx="82143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Переключение клиента</a:t>
            </a:r>
            <a:endParaRPr dirty="0"/>
          </a:p>
        </p:txBody>
      </p:sp>
      <p:sp>
        <p:nvSpPr>
          <p:cNvPr id="388" name="Google Shape;388;p56"/>
          <p:cNvSpPr txBox="1">
            <a:spLocks noGrp="1"/>
          </p:cNvSpPr>
          <p:nvPr>
            <p:ph type="title"/>
          </p:nvPr>
        </p:nvSpPr>
        <p:spPr>
          <a:xfrm>
            <a:off x="611950" y="938325"/>
            <a:ext cx="6724200" cy="4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0" dirty="0">
                <a:latin typeface="Roboto Medium"/>
                <a:ea typeface="Roboto Medium"/>
                <a:cs typeface="Roboto Medium"/>
                <a:sym typeface="Roboto Medium"/>
              </a:rPr>
              <a:t>Для переключения необходимо:</a:t>
            </a:r>
            <a:endParaRPr sz="1500" b="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89" name="Google Shape;389;p56"/>
          <p:cNvSpPr txBox="1"/>
          <p:nvPr/>
        </p:nvSpPr>
        <p:spPr>
          <a:xfrm>
            <a:off x="611950" y="1459813"/>
            <a:ext cx="4092000" cy="2715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-RU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Выполнить </a:t>
            </a:r>
            <a:r>
              <a:rPr lang="en-US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PAUSE &lt;</a:t>
            </a:r>
            <a:r>
              <a:rPr lang="ru-RU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название БД</a:t>
            </a:r>
            <a:r>
              <a:rPr lang="en-US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&gt;</a:t>
            </a:r>
            <a:r>
              <a:rPr lang="ru-RU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в </a:t>
            </a:r>
            <a:r>
              <a:rPr lang="en-US" sz="1300" dirty="0" err="1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PGbouncer</a:t>
            </a:r>
            <a:endParaRPr lang="ru-RU" sz="1300" dirty="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indent="-311150">
              <a:lnSpc>
                <a:spcPct val="115000"/>
              </a:lnSpc>
              <a:buClr>
                <a:srgbClr val="3F299A"/>
              </a:buClr>
              <a:buSzPts val="1300"/>
              <a:buFont typeface="Roboto"/>
              <a:buChar char="●"/>
            </a:pPr>
            <a:endParaRPr lang="ru-RU" sz="1300" dirty="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indent="-311150">
              <a:lnSpc>
                <a:spcPct val="115000"/>
              </a:lnSpc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-RU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Скорректировать конфигурацию </a:t>
            </a:r>
            <a:r>
              <a:rPr lang="ru-RU" sz="1300" dirty="0" err="1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pgbouncer</a:t>
            </a:r>
            <a:r>
              <a:rPr lang="ru-RU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и </a:t>
            </a:r>
            <a:r>
              <a:rPr lang="ru-RU" sz="1300" dirty="0" err="1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haproxy</a:t>
            </a:r>
            <a:r>
              <a:rPr lang="ru-RU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(добавить порт для нового узла). Выполнить </a:t>
            </a:r>
            <a:r>
              <a:rPr lang="en-US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reload </a:t>
            </a:r>
            <a:r>
              <a:rPr lang="ru-RU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сервисов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-RU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Выполнить </a:t>
            </a:r>
            <a:r>
              <a:rPr lang="en-US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RESUME &lt;</a:t>
            </a:r>
            <a:r>
              <a:rPr lang="ru-RU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название БД</a:t>
            </a:r>
            <a:r>
              <a:rPr lang="en-US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&gt;</a:t>
            </a:r>
            <a:r>
              <a:rPr lang="ru-RU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в </a:t>
            </a:r>
            <a:r>
              <a:rPr lang="en-US" sz="1300" dirty="0" err="1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Pgbouncer</a:t>
            </a:r>
            <a:endParaRPr lang="en-US" sz="1300" dirty="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endParaRPr lang="ru-RU" sz="1300" dirty="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-RU" sz="1300" dirty="0">
                <a:solidFill>
                  <a:srgbClr val="00B05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Подключение при этом не обрывается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56908DA-9CB3-4690-B77D-59680F27B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1603" y="1584825"/>
            <a:ext cx="3481240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4908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Выводы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213" name="Google Shape;213;p42"/>
          <p:cNvGraphicFramePr/>
          <p:nvPr>
            <p:extLst>
              <p:ext uri="{D42A27DB-BD31-4B8C-83A1-F6EECF244321}">
                <p14:modId xmlns:p14="http://schemas.microsoft.com/office/powerpoint/2010/main" val="3901166627"/>
              </p:ext>
            </p:extLst>
          </p:nvPr>
        </p:nvGraphicFramePr>
        <p:xfrm>
          <a:off x="676170" y="1180813"/>
          <a:ext cx="7239000" cy="2336680"/>
        </p:xfrm>
        <a:graphic>
          <a:graphicData uri="http://schemas.openxmlformats.org/drawingml/2006/table">
            <a:tbl>
              <a:tblPr>
                <a:noFill/>
                <a:tableStyleId>{36096573-5101-4AC7-9647-23AC10259183}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Удалось выполнить обновление </a:t>
                      </a:r>
                      <a:r>
                        <a:rPr lang="en-US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MPP</a:t>
                      </a: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кластера </a:t>
                      </a:r>
                      <a:r>
                        <a:rPr lang="en-US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PostgreSQL</a:t>
                      </a: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без</a:t>
                      </a:r>
                      <a:r>
                        <a:rPr lang="en-US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простоя клиента</a:t>
                      </a: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Возникли сложности с миграцией </a:t>
                      </a:r>
                      <a:r>
                        <a:rPr lang="en-US" sz="1600" dirty="0" err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Citus</a:t>
                      </a:r>
                      <a:r>
                        <a:rPr lang="en-US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-&gt; </a:t>
                      </a:r>
                      <a:r>
                        <a:rPr lang="en-US" sz="1600" dirty="0" err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Citus</a:t>
                      </a: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Для тестирования сохранения </a:t>
                      </a:r>
                      <a:r>
                        <a:rPr lang="en-US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HA </a:t>
                      </a: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необходимо много ресурсов. Времени на работу не хватило.</a:t>
                      </a: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 dirty="0">
                <a:solidFill>
                  <a:schemeClr val="lt1"/>
                </a:solidFill>
              </a:rPr>
              <a:t>Спасибо за внимание!</a:t>
            </a:r>
            <a:endParaRPr sz="5000" dirty="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1066</Words>
  <Application>Microsoft Office PowerPoint</Application>
  <PresentationFormat>Экран (16:9)</PresentationFormat>
  <Paragraphs>184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20</vt:i4>
      </vt:variant>
    </vt:vector>
  </HeadingPairs>
  <TitlesOfParts>
    <vt:vector size="28" baseType="lpstr">
      <vt:lpstr>Arial</vt:lpstr>
      <vt:lpstr>Courier New</vt:lpstr>
      <vt:lpstr>Avenir</vt:lpstr>
      <vt:lpstr>Roboto Medium</vt:lpstr>
      <vt:lpstr>Roboto</vt:lpstr>
      <vt:lpstr>Светлая тема</vt:lpstr>
      <vt:lpstr>Светлая тема</vt:lpstr>
      <vt:lpstr>Светлая тема</vt:lpstr>
      <vt:lpstr>Презентация PowerPoint</vt:lpstr>
      <vt:lpstr>Меня хорошо видно &amp; слышно?</vt:lpstr>
      <vt:lpstr>Защита проекта Тема: Zero-Downtime обновление MPP HA-кластера PostgreSQL   </vt:lpstr>
      <vt:lpstr>План защиты</vt:lpstr>
      <vt:lpstr>Презентация PowerPoint</vt:lpstr>
      <vt:lpstr>Какие технологии использовались </vt:lpstr>
      <vt:lpstr>Версии PostgreSQL и Citus  </vt:lpstr>
      <vt:lpstr>Перечень серверов </vt:lpstr>
      <vt:lpstr>Информационный поток </vt:lpstr>
      <vt:lpstr>Взаимодействие Patroni и Etcd </vt:lpstr>
      <vt:lpstr>Настройка MPP кластера</vt:lpstr>
      <vt:lpstr>Симуляция клиентской нагрузки</vt:lpstr>
      <vt:lpstr>Обновление кластера</vt:lpstr>
      <vt:lpstr>Логическая репликация</vt:lpstr>
      <vt:lpstr>Логическая репликация</vt:lpstr>
      <vt:lpstr>Логическая репликация</vt:lpstr>
      <vt:lpstr>Переключение клиента</vt:lpstr>
      <vt:lpstr>Выводы 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Мина Станислав Александрович</dc:creator>
  <cp:lastModifiedBy>Мина Станислав Александрович</cp:lastModifiedBy>
  <cp:revision>10</cp:revision>
  <dcterms:modified xsi:type="dcterms:W3CDTF">2026-09-18T17:03:43Z</dcterms:modified>
</cp:coreProperties>
</file>